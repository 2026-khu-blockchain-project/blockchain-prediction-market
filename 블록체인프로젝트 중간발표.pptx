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lus Jakarta Sans"/>
      <p:regular r:id="rId22"/>
      <p:bold r:id="rId23"/>
      <p:italic r:id="rId24"/>
      <p:boldItalic r:id="rId25"/>
    </p:embeddedFont>
    <p:embeddedFont>
      <p:font typeface="Int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usJakartaSans-regular.fntdata"/><Relationship Id="rId21" Type="http://schemas.openxmlformats.org/officeDocument/2006/relationships/slide" Target="slides/slide16.xml"/><Relationship Id="rId24" Type="http://schemas.openxmlformats.org/officeDocument/2006/relationships/font" Target="fonts/PlusJakartaSans-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regular.fntdata"/><Relationship Id="rId25" Type="http://schemas.openxmlformats.org/officeDocument/2006/relationships/font" Target="fonts/PlusJakartaSans-boldItalic.fntdata"/><Relationship Id="rId28" Type="http://schemas.openxmlformats.org/officeDocument/2006/relationships/font" Target="fonts/Inter-italic.fntdata"/><Relationship Id="rId27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e19c53a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e19c53a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e19c53a1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e19c53a1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e19c53a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e19c53a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e19c53a1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e19c53a1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e19c53a1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e19c53a1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e19c53a1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e19c53a1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19c53a1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e19c53a1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19c53a1f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e19c53a1f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e19c53a1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e19c53a1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de19c53a1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de19c53a1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e19c53a1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e19c53a1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e19c53a1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e19c53a1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e19c53a1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e19c53a1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19c53a1f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e19c53a1f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e19c53a1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e19c53a1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21.png"/><Relationship Id="rId8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200" y="0"/>
            <a:ext cx="91664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5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5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300" y="1352500"/>
            <a:ext cx="2657926" cy="310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5563" y="1339400"/>
            <a:ext cx="2657927" cy="3130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74475" y="1339400"/>
            <a:ext cx="2657924" cy="31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69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3150">
                <a:solidFill>
                  <a:srgbClr val="00FFB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성 (Core Mechanism)</a:t>
            </a:r>
            <a:endParaRPr>
              <a:solidFill>
                <a:srgbClr val="00FFB2"/>
              </a:solidFill>
            </a:endParaRPr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2225" y="881700"/>
            <a:ext cx="3530288" cy="3416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0760" y="881700"/>
            <a:ext cx="3530296" cy="341639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825643" y="1796963"/>
            <a:ext cx="3006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조건부 토큰 표준 (ERC-1155)</a:t>
            </a:r>
            <a:endParaRPr sz="961"/>
          </a:p>
        </p:txBody>
      </p:sp>
      <p:sp>
        <p:nvSpPr>
          <p:cNvPr id="119" name="Google Shape;119;p21"/>
          <p:cNvSpPr txBox="1"/>
          <p:nvPr/>
        </p:nvSpPr>
        <p:spPr>
          <a:xfrm>
            <a:off x="825643" y="2147337"/>
            <a:ext cx="28635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3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하나의 스마트 컨트랙트 내에서 다수의 시장과 각기 다른 결과(Yes/No 등)를 통합적으로 관리하는 기술 표준입니다.</a:t>
            </a:r>
            <a:endParaRPr sz="961"/>
          </a:p>
        </p:txBody>
      </p:sp>
      <p:sp>
        <p:nvSpPr>
          <p:cNvPr id="120" name="Google Shape;120;p21"/>
          <p:cNvSpPr txBox="1"/>
          <p:nvPr/>
        </p:nvSpPr>
        <p:spPr>
          <a:xfrm>
            <a:off x="1034847" y="2944923"/>
            <a:ext cx="2654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개별 시장마다 컨트랙트를 새로 배포할 필요가 없어 </a:t>
            </a:r>
            <a:r>
              <a:rPr b="1" i="0" lang="ko" sz="927" u="none" cap="none" strike="noStrike">
                <a:solidFill>
                  <a:srgbClr val="00FFB2"/>
                </a:solidFill>
                <a:latin typeface="Inter"/>
                <a:ea typeface="Inter"/>
                <a:cs typeface="Inter"/>
                <a:sym typeface="Inter"/>
              </a:rPr>
              <a:t>가스비(수수료)를 크게 절감</a:t>
            </a: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할 수 있습니다.</a:t>
            </a:r>
            <a:endParaRPr sz="961"/>
          </a:p>
        </p:txBody>
      </p:sp>
      <p:sp>
        <p:nvSpPr>
          <p:cNvPr id="121" name="Google Shape;121;p21"/>
          <p:cNvSpPr txBox="1"/>
          <p:nvPr/>
        </p:nvSpPr>
        <p:spPr>
          <a:xfrm>
            <a:off x="1034847" y="3399898"/>
            <a:ext cx="2654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복잡한 예측 조건도 단일 시스템 안에서 </a:t>
            </a:r>
            <a:r>
              <a:rPr b="1" i="0" lang="ko" sz="927" u="none" cap="none" strike="noStrike">
                <a:solidFill>
                  <a:srgbClr val="00FFB2"/>
                </a:solidFill>
                <a:latin typeface="Inter"/>
                <a:ea typeface="Inter"/>
                <a:cs typeface="Inter"/>
                <a:sym typeface="Inter"/>
              </a:rPr>
              <a:t>효율적이고 안전하게 제어</a:t>
            </a: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하도록 설계할 예정입니다.</a:t>
            </a:r>
            <a:endParaRPr sz="961"/>
          </a:p>
        </p:txBody>
      </p:sp>
      <p:pic>
        <p:nvPicPr>
          <p:cNvPr descr="image.png" id="122" name="Google Shape;1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00302" y="881700"/>
            <a:ext cx="3530296" cy="34163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9011" y="2696494"/>
            <a:ext cx="2863463" cy="451093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5339011" y="1796962"/>
            <a:ext cx="3006900" cy="2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41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자금 담보화 원칙 (안전성 보장)</a:t>
            </a:r>
            <a:endParaRPr sz="961"/>
          </a:p>
        </p:txBody>
      </p:sp>
      <p:sp>
        <p:nvSpPr>
          <p:cNvPr id="125" name="Google Shape;125;p21"/>
          <p:cNvSpPr txBox="1"/>
          <p:nvPr/>
        </p:nvSpPr>
        <p:spPr>
          <a:xfrm>
            <a:off x="5339011" y="2147336"/>
            <a:ext cx="2863500" cy="4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30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시스템 내의 모든 주식은 실제 예치된 자산에 의해 100% 담보되도록 수학적으로 강제됩니다.</a:t>
            </a:r>
            <a:endParaRPr sz="961"/>
          </a:p>
        </p:txBody>
      </p:sp>
      <p:sp>
        <p:nvSpPr>
          <p:cNvPr id="126" name="Google Shape;126;p21"/>
          <p:cNvSpPr txBox="1"/>
          <p:nvPr/>
        </p:nvSpPr>
        <p:spPr>
          <a:xfrm>
            <a:off x="5558020" y="2840320"/>
            <a:ext cx="2425200" cy="1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3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 USD 예치 = YES 토큰 1개 + NO 토큰 1개</a:t>
            </a:r>
            <a:endParaRPr sz="961"/>
          </a:p>
        </p:txBody>
      </p:sp>
      <p:sp>
        <p:nvSpPr>
          <p:cNvPr id="127" name="Google Shape;127;p21"/>
          <p:cNvSpPr txBox="1"/>
          <p:nvPr/>
        </p:nvSpPr>
        <p:spPr>
          <a:xfrm>
            <a:off x="5548214" y="3304489"/>
            <a:ext cx="2654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예치된 총 자금과 발행된 주식 가치가 항상 일치하여 </a:t>
            </a:r>
            <a:r>
              <a:rPr b="1" i="0" lang="ko" sz="927" u="none" cap="none" strike="noStrike">
                <a:solidFill>
                  <a:srgbClr val="00FFB2"/>
                </a:solidFill>
                <a:latin typeface="Inter"/>
                <a:ea typeface="Inter"/>
                <a:cs typeface="Inter"/>
                <a:sym typeface="Inter"/>
              </a:rPr>
              <a:t>뱅크런(지급 불능) 위험을 원천 차단</a:t>
            </a:r>
            <a:r>
              <a:rPr b="0" i="0" lang="ko" sz="927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합니다.</a:t>
            </a:r>
            <a:endParaRPr sz="96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6100" y="1463842"/>
            <a:ext cx="4118598" cy="28756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8757" y="1458550"/>
            <a:ext cx="2727762" cy="289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6425" y="1448265"/>
            <a:ext cx="2971451" cy="2933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08126" y="1458550"/>
            <a:ext cx="2727762" cy="289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67650" y="1445025"/>
            <a:ext cx="2916450" cy="29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67495" y="1458550"/>
            <a:ext cx="2727762" cy="289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69050" y="1433150"/>
            <a:ext cx="2971450" cy="294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2"/>
          <p:cNvSpPr txBox="1"/>
          <p:nvPr/>
        </p:nvSpPr>
        <p:spPr>
          <a:xfrm>
            <a:off x="488083" y="1844771"/>
            <a:ext cx="12141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99" u="none" cap="none" strike="noStrike">
                <a:solidFill>
                  <a:srgbClr val="00FFB2"/>
                </a:solidFill>
                <a:latin typeface="Arial"/>
                <a:ea typeface="Arial"/>
                <a:cs typeface="Arial"/>
                <a:sym typeface="Arial"/>
              </a:rPr>
              <a:t>mintShares()</a:t>
            </a:r>
            <a:endParaRPr sz="1054">
              <a:solidFill>
                <a:srgbClr val="00FFB2"/>
              </a:solidFill>
            </a:endParaRPr>
          </a:p>
        </p:txBody>
      </p:sp>
      <p:sp>
        <p:nvSpPr>
          <p:cNvPr id="143" name="Google Shape;143;p22"/>
          <p:cNvSpPr txBox="1"/>
          <p:nvPr/>
        </p:nvSpPr>
        <p:spPr>
          <a:xfrm>
            <a:off x="488083" y="2390637"/>
            <a:ext cx="10500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9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안전한 주식 발행</a:t>
            </a:r>
            <a:endParaRPr sz="1135"/>
          </a:p>
        </p:txBody>
      </p:sp>
      <p:sp>
        <p:nvSpPr>
          <p:cNvPr id="144" name="Google Shape;144;p22"/>
          <p:cNvSpPr txBox="1"/>
          <p:nvPr/>
        </p:nvSpPr>
        <p:spPr>
          <a:xfrm>
            <a:off x="488083" y="2731185"/>
            <a:ext cx="2249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94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사용자가 돈을 맡기고 주식을 받는 과정이 동시에(원자적으로) 처리되어, 중간에 에러가 나도 돈을 잃어버리는 일이 없도록 안전하게 설계할 예정입니다.</a:t>
            </a:r>
            <a:endParaRPr sz="1135"/>
          </a:p>
        </p:txBody>
      </p:sp>
      <p:sp>
        <p:nvSpPr>
          <p:cNvPr id="145" name="Google Shape;145;p22"/>
          <p:cNvSpPr txBox="1"/>
          <p:nvPr/>
        </p:nvSpPr>
        <p:spPr>
          <a:xfrm>
            <a:off x="3447452" y="1844771"/>
            <a:ext cx="15174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581" u="none" cap="none" strike="noStrike">
                <a:solidFill>
                  <a:srgbClr val="00FFB2"/>
                </a:solidFill>
                <a:latin typeface="Arial"/>
                <a:ea typeface="Arial"/>
                <a:cs typeface="Arial"/>
                <a:sym typeface="Arial"/>
              </a:rPr>
              <a:t>resolveMarket()</a:t>
            </a:r>
            <a:endParaRPr sz="1135">
              <a:solidFill>
                <a:srgbClr val="00FFB2"/>
              </a:solidFill>
            </a:endParaRPr>
          </a:p>
        </p:txBody>
      </p:sp>
      <p:sp>
        <p:nvSpPr>
          <p:cNvPr id="146" name="Google Shape;146;p22"/>
          <p:cNvSpPr txBox="1"/>
          <p:nvPr/>
        </p:nvSpPr>
        <p:spPr>
          <a:xfrm>
            <a:off x="3447452" y="2390637"/>
            <a:ext cx="10887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9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결과 확정 및 마감</a:t>
            </a:r>
            <a:endParaRPr sz="1135"/>
          </a:p>
        </p:txBody>
      </p:sp>
      <p:sp>
        <p:nvSpPr>
          <p:cNvPr id="147" name="Google Shape;147;p22"/>
          <p:cNvSpPr txBox="1"/>
          <p:nvPr/>
        </p:nvSpPr>
        <p:spPr>
          <a:xfrm>
            <a:off x="3447452" y="2731185"/>
            <a:ext cx="2249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94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현실 세계의 정답(오라클 데이터)이 들어오면 시장을 즉시 종료 상태로 바꾸고, 이후에는 어떤 새로운 주식도 발행되지 않도록 영구적으로 잠기도록 구현할 계획입니다.</a:t>
            </a:r>
            <a:endParaRPr sz="1135"/>
          </a:p>
        </p:txBody>
      </p:sp>
      <p:sp>
        <p:nvSpPr>
          <p:cNvPr id="148" name="Google Shape;148;p22"/>
          <p:cNvSpPr txBox="1"/>
          <p:nvPr/>
        </p:nvSpPr>
        <p:spPr>
          <a:xfrm>
            <a:off x="6406821" y="1844771"/>
            <a:ext cx="15174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99" u="none" cap="none" strike="noStrike">
                <a:solidFill>
                  <a:srgbClr val="00FFB2"/>
                </a:solidFill>
                <a:latin typeface="Arial"/>
                <a:ea typeface="Arial"/>
                <a:cs typeface="Arial"/>
                <a:sym typeface="Arial"/>
              </a:rPr>
              <a:t>claimWinnings()</a:t>
            </a:r>
            <a:endParaRPr sz="1054">
              <a:solidFill>
                <a:srgbClr val="00FFB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6406821" y="2390637"/>
            <a:ext cx="14052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94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상금 수령 및 해킹 방지</a:t>
            </a:r>
            <a:endParaRPr sz="1135"/>
          </a:p>
        </p:txBody>
      </p:sp>
      <p:sp>
        <p:nvSpPr>
          <p:cNvPr id="150" name="Google Shape;150;p22"/>
          <p:cNvSpPr txBox="1"/>
          <p:nvPr/>
        </p:nvSpPr>
        <p:spPr>
          <a:xfrm>
            <a:off x="6406821" y="2731185"/>
            <a:ext cx="2249100" cy="12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94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정답 주식을 가진 사람만 상금을 인출할 수 있습니다. 특히 해커가 돈을 중복으로 빼가는 </a:t>
            </a:r>
            <a:r>
              <a:rPr b="1" i="0" lang="ko" sz="1094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'재진입 공격(Reentrancy)'</a:t>
            </a:r>
            <a:r>
              <a:rPr b="0" i="0" lang="ko" sz="1094" u="none" cap="none" strike="noStrike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rPr>
              <a:t>을 원천적으로 막는 패턴을 적용할 예정입니다.</a:t>
            </a:r>
            <a:endParaRPr sz="113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3500"/>
            <a:ext cx="9144000" cy="51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9600"/>
            <a:ext cx="9144000" cy="5163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5350"/>
            <a:ext cx="9144000" cy="516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